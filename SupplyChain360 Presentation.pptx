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84-436A-8FF8-D1691F38B558}"/>
              </c:ext>
            </c:extLst>
          </c:dPt>
          <c:dPt>
            <c:idx val="1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84-436A-8FF8-D1691F38B558}"/>
              </c:ext>
            </c:extLst>
          </c:dPt>
          <c:dPt>
            <c:idx val="2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84-436A-8FF8-D1691F38B558}"/>
              </c:ext>
            </c:extLst>
          </c:dPt>
          <c:dPt>
            <c:idx val="3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84-436A-8FF8-D1691F38B558}"/>
              </c:ext>
            </c:extLst>
          </c:dPt>
          <c:dPt>
            <c:idx val="4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B84-436A-8FF8-D1691F38B558}"/>
              </c:ext>
            </c:extLst>
          </c:dPt>
          <c:dPt>
            <c:idx val="5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B84-436A-8FF8-D1691F38B558}"/>
              </c:ext>
            </c:extLst>
          </c:dPt>
          <c:dPt>
            <c:idx val="6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B84-436A-8FF8-D1691F38B558}"/>
              </c:ext>
            </c:extLst>
          </c:dPt>
          <c:dPt>
            <c:idx val="7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B84-436A-8FF8-D1691F38B558}"/>
              </c:ext>
            </c:extLst>
          </c:dPt>
          <c:dPt>
            <c:idx val="8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B84-436A-8FF8-D1691F38B558}"/>
              </c:ext>
            </c:extLst>
          </c:dPt>
          <c:dPt>
            <c:idx val="9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B84-436A-8FF8-D1691F38B55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Nike</c:v>
                </c:pt>
                <c:pt idx="1">
                  <c:v>Nestle</c:v>
                </c:pt>
                <c:pt idx="2">
                  <c:v>Unilever</c:v>
                </c:pt>
                <c:pt idx="3">
                  <c:v>Philips</c:v>
                </c:pt>
                <c:pt idx="4">
                  <c:v>LG</c:v>
                </c:pt>
                <c:pt idx="5">
                  <c:v>P&amp;G</c:v>
                </c:pt>
                <c:pt idx="6">
                  <c:v>Panasonic</c:v>
                </c:pt>
                <c:pt idx="7">
                  <c:v>Sony</c:v>
                </c:pt>
                <c:pt idx="8">
                  <c:v>Adidas</c:v>
                </c:pt>
                <c:pt idx="9">
                  <c:v>PepsiCo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49.28</c:v>
                </c:pt>
                <c:pt idx="1">
                  <c:v>49.44</c:v>
                </c:pt>
                <c:pt idx="2">
                  <c:v>49.48</c:v>
                </c:pt>
                <c:pt idx="3">
                  <c:v>49.59</c:v>
                </c:pt>
                <c:pt idx="4">
                  <c:v>49.66</c:v>
                </c:pt>
                <c:pt idx="5">
                  <c:v>49.7</c:v>
                </c:pt>
                <c:pt idx="6">
                  <c:v>49.73</c:v>
                </c:pt>
                <c:pt idx="7">
                  <c:v>49.91</c:v>
                </c:pt>
                <c:pt idx="8">
                  <c:v>49.92</c:v>
                </c:pt>
                <c:pt idx="9">
                  <c:v>50.03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B84-436A-8FF8-D1691F38B5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8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.5"/>
          <c:min val="49"/>
        </c:scaling>
        <c:delete val="0"/>
        <c:axPos val="l"/>
        <c:majorGridlines>
          <c:spPr>
            <a:ln w="6350" cap="flat">
              <a:solidFill>
                <a:srgbClr val="1A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8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5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CB4-44F6-8E0C-A12F678B735F}"/>
              </c:ext>
            </c:extLst>
          </c:dPt>
          <c:dPt>
            <c:idx val="1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B4-44F6-8E0C-A12F678B735F}"/>
              </c:ext>
            </c:extLst>
          </c:dPt>
          <c:dPt>
            <c:idx val="2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CB4-44F6-8E0C-A12F678B735F}"/>
              </c:ext>
            </c:extLst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CB4-44F6-8E0C-A12F678B735F}"/>
              </c:ext>
            </c:extLst>
          </c:dPt>
          <c:dPt>
            <c:idx val="4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CB4-44F6-8E0C-A12F678B735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B4-44F6-8E0C-A12F678B735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B4-44F6-8E0C-A12F678B735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CB4-44F6-8E0C-A12F678B735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CB4-44F6-8E0C-A12F678B735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CB4-44F6-8E0C-A12F678B735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East (NY)</c:v>
                </c:pt>
                <c:pt idx="1">
                  <c:v>West (CA)</c:v>
                </c:pt>
                <c:pt idx="2">
                  <c:v>South (FL)</c:v>
                </c:pt>
                <c:pt idx="3">
                  <c:v>Midwest (IL)</c:v>
                </c:pt>
                <c:pt idx="4">
                  <c:v>South (TX)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285328525</c:v>
                </c:pt>
                <c:pt idx="1">
                  <c:v>284783259</c:v>
                </c:pt>
                <c:pt idx="2">
                  <c:v>275662027</c:v>
                </c:pt>
                <c:pt idx="3">
                  <c:v>273035453</c:v>
                </c:pt>
                <c:pt idx="4">
                  <c:v>271245596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CB4-44F6-8E0C-A12F678B73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AF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5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7C-4C86-A5C9-DE6E0FEBC18C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7C-4C86-A5C9-DE6E0FEBC18C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7C-4C86-A5C9-DE6E0FEBC18C}"/>
              </c:ext>
            </c:extLst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7C-4C86-A5C9-DE6E0FEBC18C}"/>
              </c:ext>
            </c:extLst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37C-4C86-A5C9-DE6E0FEBC18C}"/>
              </c:ext>
            </c:extLst>
          </c:dPt>
          <c:dPt>
            <c:idx val="5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37C-4C86-A5C9-DE6E0FEBC18C}"/>
              </c:ext>
            </c:extLst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37C-4C86-A5C9-DE6E0FEBC18C}"/>
              </c:ext>
            </c:extLst>
          </c:dPt>
          <c:dPt>
            <c:idx val="7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37C-4C86-A5C9-DE6E0FEBC18C}"/>
              </c:ext>
            </c:extLst>
          </c:dPt>
          <c:dPt>
            <c:idx val="8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37C-4C86-A5C9-DE6E0FEBC18C}"/>
              </c:ext>
            </c:extLst>
          </c:dPt>
          <c:dPt>
            <c:idx val="9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37C-4C86-A5C9-DE6E0FEBC18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WH-010
Buffalo</c:v>
                </c:pt>
                <c:pt idx="1">
                  <c:v>WH-002
Dallas</c:v>
                </c:pt>
                <c:pt idx="2">
                  <c:v>WH-001
LA</c:v>
                </c:pt>
                <c:pt idx="3">
                  <c:v>WH-006
Houston</c:v>
                </c:pt>
                <c:pt idx="4">
                  <c:v>WH-007
SF</c:v>
                </c:pt>
                <c:pt idx="5">
                  <c:v>WH-003
Chicago</c:v>
                </c:pt>
                <c:pt idx="6">
                  <c:v>WH-009
Austin</c:v>
                </c:pt>
                <c:pt idx="7">
                  <c:v>WH-008
Orlando</c:v>
                </c:pt>
                <c:pt idx="8">
                  <c:v>WH-005
Miami</c:v>
                </c:pt>
                <c:pt idx="9">
                  <c:v>WH-004
New York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49.29</c:v>
                </c:pt>
                <c:pt idx="1">
                  <c:v>49.38</c:v>
                </c:pt>
                <c:pt idx="2">
                  <c:v>49.47</c:v>
                </c:pt>
                <c:pt idx="3">
                  <c:v>49.48</c:v>
                </c:pt>
                <c:pt idx="4">
                  <c:v>49.57</c:v>
                </c:pt>
                <c:pt idx="5">
                  <c:v>49.72</c:v>
                </c:pt>
                <c:pt idx="6">
                  <c:v>49.87</c:v>
                </c:pt>
                <c:pt idx="7">
                  <c:v>49.93</c:v>
                </c:pt>
                <c:pt idx="8">
                  <c:v>50.1</c:v>
                </c:pt>
                <c:pt idx="9">
                  <c:v>50.25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37C-4C86-A5C9-DE6E0FEBC1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8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.5"/>
          <c:min val="49"/>
        </c:scaling>
        <c:delete val="0"/>
        <c:axPos val="l"/>
        <c:majorGridlines>
          <c:spPr>
            <a:ln w="6350" cap="flat">
              <a:solidFill>
                <a:srgbClr val="1A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8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52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8AAFC8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8AAFC8"/>
                </a:solidFill>
                <a:latin typeface="Arial"/>
              </a:rPr>
              <a:t>Reorder Pressure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Products Needing Reorder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FE-4ECF-8AAB-1E01E57AF62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CFE-4ECF-8AAB-1E01E57AF62C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CFE-4ECF-8AAB-1E01E57AF62C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FE-4ECF-8AAB-1E01E57AF62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CFE-4ECF-8AAB-1E01E57AF62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CFE-4ECF-8AAB-1E01E57AF62C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CFE-4ECF-8AAB-1E01E57AF62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DCFE-4ECF-8AAB-1E01E57AF62C}"/>
              </c:ext>
            </c:extLst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CFE-4ECF-8AAB-1E01E57AF62C}"/>
              </c:ext>
            </c:extLst>
          </c:dPt>
          <c:dPt>
            <c:idx val="9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CFE-4ECF-8AAB-1E01E57AF62C}"/>
              </c:ext>
            </c:extLst>
          </c:dPt>
          <c:cat>
            <c:strRef>
              <c:f>Sheet1!$A$2:$A$11</c:f>
              <c:strCache>
                <c:ptCount val="10"/>
                <c:pt idx="0">
                  <c:v>WH-010</c:v>
                </c:pt>
                <c:pt idx="1">
                  <c:v>WH-002</c:v>
                </c:pt>
                <c:pt idx="2">
                  <c:v>WH-001</c:v>
                </c:pt>
                <c:pt idx="3">
                  <c:v>WH-006</c:v>
                </c:pt>
                <c:pt idx="4">
                  <c:v>WH-007</c:v>
                </c:pt>
                <c:pt idx="5">
                  <c:v>WH-003</c:v>
                </c:pt>
                <c:pt idx="6">
                  <c:v>WH-009</c:v>
                </c:pt>
                <c:pt idx="7">
                  <c:v>WH-008</c:v>
                </c:pt>
                <c:pt idx="8">
                  <c:v>WH-005</c:v>
                </c:pt>
                <c:pt idx="9">
                  <c:v>WH-004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0.43</c:v>
                </c:pt>
                <c:pt idx="1">
                  <c:v>0.86</c:v>
                </c:pt>
                <c:pt idx="2">
                  <c:v>1</c:v>
                </c:pt>
                <c:pt idx="3">
                  <c:v>0.14000000000000001</c:v>
                </c:pt>
                <c:pt idx="4">
                  <c:v>0.56999999999999995</c:v>
                </c:pt>
                <c:pt idx="5">
                  <c:v>0.43</c:v>
                </c:pt>
                <c:pt idx="6">
                  <c:v>1</c:v>
                </c:pt>
                <c:pt idx="7">
                  <c:v>0.28999999999999998</c:v>
                </c:pt>
                <c:pt idx="8">
                  <c:v>1.29</c:v>
                </c:pt>
                <c:pt idx="9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CFE-4ECF-8AAB-1E01E57AF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8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8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5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014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502920" cy="4997196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73152"/>
            <a:ext cx="73152" cy="4997196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2E86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SupplyChain360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029200" cy="411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99339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 to End, Unified Supply Chain Data Platform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Business Intelligence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Feyisayo Ajiboye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 |  March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914400"/>
            <a:ext cx="1737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914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481328"/>
            <a:ext cx="1737360" cy="411480"/>
          </a:xfrm>
          <a:prstGeom prst="rect">
            <a:avLst/>
          </a:prstGeom>
          <a:solidFill>
            <a:srgbClr val="152638"/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481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048256"/>
            <a:ext cx="1737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204825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615184"/>
            <a:ext cx="1737360" cy="411480"/>
          </a:xfrm>
          <a:prstGeom prst="rect">
            <a:avLst/>
          </a:prstGeom>
          <a:solidFill>
            <a:srgbClr val="152638"/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26151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3182112"/>
            <a:ext cx="1737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0" y="318211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3749040"/>
            <a:ext cx="1737360" cy="411480"/>
          </a:xfrm>
          <a:prstGeom prst="rect">
            <a:avLst/>
          </a:prstGeom>
          <a:solidFill>
            <a:srgbClr val="152638"/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4315968"/>
            <a:ext cx="1737360" cy="411480"/>
          </a:xfrm>
          <a:prstGeom prst="rect">
            <a:avLst/>
          </a:prstGeom>
          <a:solidFill>
            <a:srgbClr val="1A2E42"/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4315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566160"/>
          </a:xfrm>
          <a:prstGeom prst="rect">
            <a:avLst/>
          </a:prstGeom>
          <a:solidFill>
            <a:srgbClr val="140D0D"/>
          </a:solidFill>
          <a:ln w="12700">
            <a:solidFill>
              <a:srgbClr val="140D0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frequently run out of popular products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overstock slow-moving items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delays are becoming common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fragmented across multiple systems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manually compiled in spreadsheets weekly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leadership gets insights , data is outdated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3566160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MANAGEMENT COULDN'T ANSWER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384048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products are causing the most stockouts?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377440"/>
            <a:ext cx="384048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warehouses are inefficient?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3246120"/>
            <a:ext cx="3840480" cy="685800"/>
          </a:xfrm>
          <a:prstGeom prst="rect">
            <a:avLst/>
          </a:prstGeom>
          <a:solidFill>
            <a:srgbClr val="1A2E42"/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Which suppliers consistently deliver late?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1A1000"/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Build a Unified Supply Chain Data Platform that centralises all operational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691640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3 source systems. Store as Parquet in S3 with metadata and schema validation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691640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012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10128" y="1508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8288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DWH with 14 dbt models , staging views and analytics tables in star schema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1691640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44768" y="1143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44768" y="1508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4768" y="182880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Deduplication, NULL handling, type casting, format standardisation and foreign key validation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51760" cy="1691640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51760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" y="3429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" y="374904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DAG runs daily at 6am . Ingest, transform, test  and fully automated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51760" cy="1691640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0128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10128" y="3429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74904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 built and pushed to Docker Hub. Reproducible across all environments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51760" cy="1691640"/>
          </a:xfrm>
          <a:prstGeom prst="rect">
            <a:avLst/>
          </a:prstGeom>
          <a:solidFill>
            <a:srgbClr val="0F1E2D"/>
          </a:solidFill>
          <a:ln w="12700">
            <a:solidFill>
              <a:srgbClr val="0F1E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5176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44768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44768" y="3429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IaC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44768" y="374904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auto-tests and deploys on every push. Terraform manages all AWS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08760" cy="3520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5087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(CSV/JSON)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542032"/>
            <a:ext cx="420624" cy="54864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03120" y="242316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960120"/>
            <a:ext cx="1508760" cy="3520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65960" y="960120"/>
            <a:ext cx="1508760" cy="34747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6596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7400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boto3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57400" y="2395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writes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542032"/>
            <a:ext cx="420624" cy="54864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9040" y="242316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960120"/>
            <a:ext cx="1508760" cy="3520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11880" y="960120"/>
            <a:ext cx="1508760" cy="3474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RAW LAKE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03320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format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folders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03320" y="2395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partitioned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542032"/>
            <a:ext cx="420624" cy="54864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0" y="242316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57800" y="960120"/>
            <a:ext cx="1508760" cy="3520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57800" y="960120"/>
            <a:ext cx="150876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5780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DWH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49240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schema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(dbt)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2395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(dbt)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542032"/>
            <a:ext cx="420624" cy="54864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40880" y="242316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03720" y="960120"/>
            <a:ext cx="1508760" cy="35204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03720" y="960120"/>
            <a:ext cx="150876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0372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95160" y="14447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1920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Fact tables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95160" y="23957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553712"/>
            <a:ext cx="150876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F39C1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0040" y="4553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SSM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4773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965960" y="4553712"/>
            <a:ext cx="150876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9B59B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965960" y="4553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965960" y="4773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11880" y="4553712"/>
            <a:ext cx="150876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1E844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11880" y="4553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11880" y="4773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257800" y="4553712"/>
            <a:ext cx="150876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2E86C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257800" y="4553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57800" y="4773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903720" y="4553712"/>
            <a:ext cx="150876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903720" y="4553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CI/CD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03720" y="477316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0040" y="43434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Infrastructure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32918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45720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6002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Datasets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JSON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+ Daily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406,100 rows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97480" cy="32918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005840"/>
            <a:ext cx="269748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46120" y="1005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1600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16002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Daily Tables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2103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606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108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1,400,000 rows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2697480" cy="32918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1005840"/>
            <a:ext cx="269748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1005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63640" y="1600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69480" y="16002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Dataset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9480" y="2103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606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26060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1089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3108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rows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1,806,900+ rows ingested from 3 source systems into a unified platform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9432" y="1022168"/>
            <a:ext cx="4069080" cy="17830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7830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S3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SSM Parameter Store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DynamoDB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4069080" cy="17830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64008" cy="17830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Snowflake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dbt 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External Stage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386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 Schema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069080" cy="17830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64008" cy="17830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3.11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boto3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pandas + PyArrow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98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SQLAlchemy + gspread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017520"/>
            <a:ext cx="4069080" cy="17830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17720" y="3017520"/>
            <a:ext cx="64008" cy="17830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3108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DevOps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Apache Airflow 2.8.1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096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Terraform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398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Actions CI/CD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9748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5486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155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read from S3, PostgreSQL via SSM credentials, and Google Sheets via GCP service account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35808" y="166420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ADE2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9748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1155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94760" y="11155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16002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checks expected columns exist. Empty files skipped. Duplicate rows detected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16168" y="166420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ADE2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69748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9748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488" y="11155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75120" y="11155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S3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90488" y="16002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converted to Parquet with ingestion timestamp metadata. Written to partitioned S3 folders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269748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69748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30358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4400" y="30358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Snowflake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9768" y="3520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stage reads Parquet files from S3 via IAM role integration. Raw tables populated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35808" y="358444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ADE2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0" y="2926080"/>
            <a:ext cx="269748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69748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10128" y="30358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794760" y="30358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Transform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10128" y="3520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models clean and standardise. Analytics models build star schema with derived business columns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16168" y="3584448"/>
            <a:ext cx="16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ADE2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80760" y="2926080"/>
            <a:ext cx="269748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0760" y="2926080"/>
            <a:ext cx="26974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90488" y="30358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675120" y="30358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190488" y="3520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validate uniqueness, nulls, accepted values and foreign key relationships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2010"/>
          </a:solidFill>
          <a:ln w="12700">
            <a:solidFill>
              <a:srgbClr val="1E844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All 6 steps orchestrated automatically by Apache Airflow  —  Daily at 06:00 UTC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— dbt Star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651760" cy="3931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5176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  (Silver)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stg_products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stg_warehouses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stg_suppliers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stg_inventory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stg_shipments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stg_store_locations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96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stg_store_sales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553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views  ·  Cleaned + Typed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99232" y="25603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ADE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10128" y="987552"/>
            <a:ext cx="2514600" cy="18745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10128" y="987552"/>
            <a:ext cx="251460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9875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 (Gold)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146304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dim_products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56432" y="181051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dim_suppliers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56432" y="215798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dim_warehouses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6432" y="2505456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dim_stores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2971800"/>
            <a:ext cx="2514600" cy="19202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10128" y="2971800"/>
            <a:ext cx="2514600" cy="365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0128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 (Gold)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56432" y="344728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fct_sales  (1.4M rows)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56432" y="383133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fct_shipments  (350K rows)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56432" y="4215384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fct_inventory  (56K rows)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256032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ADE2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72200" y="987552"/>
            <a:ext cx="2606040" cy="39319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987552"/>
            <a:ext cx="2606040" cy="3657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987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MODELS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analysis_stockout_trends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1938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analysis_supplier_performance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4140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analysis_warehouse_efficiency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28895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analysis_regional_sales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4553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total models  ·  dbt tested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— Product Stockout Trends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1371600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28.57%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8105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Laptop stockout risk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in portfolio)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2011680" cy="1371600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051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14.29%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23160" y="18105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other products at risk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warehouses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14600"/>
          <a:ext cx="4069080" cy="293827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Warehouse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Risk 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Avg Stock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Sony Laptop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Electronics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Los Angeles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28.57%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166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Philips Tablet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Electronics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Los Angeles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14.29%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175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Philips Gaming Console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Electronics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Los Angeles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14.29%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Philips Coffee Maker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Home Appliances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Orlando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14.29%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151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Nestle Orange Juice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Groceries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Buffalo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14.29%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175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LG Air Fryer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Home Appliances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Chicago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14.29%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P&amp;G Body Lotion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Beauty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Buffalo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14.29%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139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Adidas Women Jeans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Clothing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Austin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14.29%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168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Adidas Hoodie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Clothing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Austin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14.29%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8C8E0"/>
                          </a:solidFill>
                        </a:rPr>
                        <a:t>184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80560" y="1005840"/>
            <a:ext cx="4297680" cy="3977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80560" y="1005840"/>
            <a:ext cx="42976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17720" y="144475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Home Appliances most stockout-prone categories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warehouse appears 3 times, highest concentration risk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Body Lotion has lowest avg stock at 139 units, most critical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 Hoodie has highest stock (184) yet still stocks out, demand spikes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480560" y="3200400"/>
            <a:ext cx="42976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17720" y="363931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Sony Laptop safety stock by 50% in LA immediately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reorder trigger at 30% above threshold for all Electronics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Philips inventory across multiple warehouses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— Supplier Delivery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353312"/>
          </a:xfrm>
          <a:prstGeom prst="rect">
            <a:avLst/>
          </a:prstGeom>
          <a:solidFill>
            <a:srgbClr val="1A0D00"/>
          </a:solidFill>
          <a:ln w="12700">
            <a:solidFill>
              <a:srgbClr val="1A0D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7556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on-time 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suppliers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1920240" cy="1353312"/>
          </a:xfrm>
          <a:prstGeom prst="rect">
            <a:avLst/>
          </a:prstGeom>
          <a:solidFill>
            <a:srgbClr val="1A0D00"/>
          </a:solidFill>
          <a:ln w="12700">
            <a:solidFill>
              <a:srgbClr val="1A0D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102412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377440" y="17556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days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single supplier)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005840"/>
            <a:ext cx="1920240" cy="1353312"/>
          </a:xfrm>
          <a:prstGeom prst="rect">
            <a:avLst/>
          </a:prstGeom>
          <a:solidFill>
            <a:srgbClr val="1A0D00"/>
          </a:solidFill>
          <a:ln w="12700">
            <a:solidFill>
              <a:srgbClr val="1A0D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102412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60,830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34840" y="17556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shipments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volume)</a:t>
            </a:r>
            <a:endParaRPr lang="en-US" sz="9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20040" y="2487168"/>
          <a:ext cx="626364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675120" y="1005840"/>
            <a:ext cx="2103120" cy="3977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766560" y="1444752"/>
            <a:ext cx="1920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is 95% on-time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suppliers at ~49% — systemic issue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1.01 day delay = carrier problem not supplier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suppliers US-based = geographic risk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carrier — fix all suppliers at once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— Regional Sales Demand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4754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05840"/>
            <a:ext cx="356616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212080" y="1005840"/>
            <a:ext cx="54864" cy="6583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49240" y="10058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/ New York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76288" y="10058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54112" y="1005840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286,465 txns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2080" y="1783080"/>
            <a:ext cx="356616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12080" y="1783080"/>
            <a:ext cx="54864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49240" y="178308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/ California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76288" y="178308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$284M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54112" y="1783080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287,360 txns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12080" y="2560320"/>
            <a:ext cx="356616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212080" y="2560320"/>
            <a:ext cx="54864" cy="65836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49240" y="256032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/ Florida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76288" y="25603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54112" y="2560320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278,086 txns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212080" y="3337560"/>
            <a:ext cx="356616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212080" y="3337560"/>
            <a:ext cx="54864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349240" y="333756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/ Illinois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76288" y="333756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$273M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754112" y="3337560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274,762 txns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212080" y="4114800"/>
            <a:ext cx="356616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212080" y="4114800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349240" y="41148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/ Texas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876288" y="41148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$271M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754112" y="4114800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A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273,327 txns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212080" y="4892040"/>
            <a:ext cx="3566160" cy="384048"/>
          </a:xfrm>
          <a:prstGeom prst="rect">
            <a:avLst/>
          </a:prstGeom>
          <a:solidFill>
            <a:srgbClr val="0D200D"/>
          </a:solidFill>
          <a:ln w="12700">
            <a:solidFill>
              <a:srgbClr val="0D200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212080" y="4892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 within 5% of each other — healthy national coverage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— Warehouse Efficiency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05840"/>
          <a:ext cx="56692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20040" y="3886200"/>
          <a:ext cx="566928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6080760" y="1005840"/>
            <a:ext cx="2697480" cy="3977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080760" y="1005840"/>
            <a:ext cx="2697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17920" y="1444752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(WH-004) best on-time at 50.25%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(WH-006) best stock </a:t>
            </a:r>
            <a:r>
              <a:rPr lang="en-US" sz="1000" dirty="0" err="1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reorder pressure only 0.14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(WH-005) most urgent — reorder pressure 1.29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(WH-001) dual problem — high stockout risk AND 1.00 reorder pressure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warehouses within 1% on-time rate — systemic carrier issue confirmed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080760" y="3639312"/>
            <a:ext cx="2697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17920" y="4078224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stock injection for Miami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Houston model across all warehouses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LA demand to reduce concentration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51960" cy="1207008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4632" y="1325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Carrier Network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459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1.01 day delay across ALL suppliers points to logistics/carrier problem. Fix the carrier and it fixes everything.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51960" cy="1207008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54864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19472" y="1325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Laptop Restock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6459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28.57% stockout risk in LA is the highest in the portfolio. Increase safety stock by 50% immediately.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59152"/>
            <a:ext cx="4251960" cy="1207008"/>
          </a:xfrm>
          <a:prstGeom prst="rect">
            <a:avLst/>
          </a:prstGeom>
          <a:solidFill>
            <a:srgbClr val="1A0808"/>
          </a:solidFill>
          <a:ln w="12700">
            <a:solidFill>
              <a:srgbClr val="1A080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54864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26791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Warehouse Injection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299923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reorder pressure at 1.29. Emergency inventory needed. Redistribute demand to Orlando warehouse.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59152"/>
            <a:ext cx="4251960" cy="1207008"/>
          </a:xfrm>
          <a:prstGeom prst="rect">
            <a:avLst/>
          </a:prstGeom>
          <a:solidFill>
            <a:srgbClr val="1A0D00"/>
          </a:solidFill>
          <a:ln w="12700">
            <a:solidFill>
              <a:srgbClr val="1A0D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359152"/>
            <a:ext cx="54864" cy="12070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9472" y="26791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Supplier Geography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299923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suppliers are US-based. Add international suppliers to reduce single-country concentration risk.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12464"/>
            <a:ext cx="4251960" cy="1207008"/>
          </a:xfrm>
          <a:prstGeom prst="rect">
            <a:avLst/>
          </a:prstGeom>
          <a:solidFill>
            <a:srgbClr val="1A0D00"/>
          </a:solidFill>
          <a:ln w="12700">
            <a:solidFill>
              <a:srgbClr val="1A0D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712464"/>
            <a:ext cx="54864" cy="12070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" y="40325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Redistribute LA Electronics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" y="435254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products dominating LA warehouse. Spread inventory across multiple warehouses.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712464"/>
            <a:ext cx="4251960" cy="1207008"/>
          </a:xfrm>
          <a:prstGeom prst="rect">
            <a:avLst/>
          </a:prstGeom>
          <a:solidFill>
            <a:srgbClr val="1A1400"/>
          </a:solidFill>
          <a:ln w="12700">
            <a:solidFill>
              <a:srgbClr val="1A14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712464"/>
            <a:ext cx="54864" cy="1207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40325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Houston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435254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WH-006 Houston has the lowest reorder pressure at 0.14. Document and roll out its replenishment practices.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977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1480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collects 1.8M+ rows from 3 sources every day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now lives in one place , no more manual spreadsheets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can answer supply chain questions in real time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</a:t>
            </a:r>
            <a:r>
              <a:rPr lang="en-US" sz="110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6am, zero </a:t>
            </a: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intervention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 triggers an immediate email alert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 changes automatically tested and deployed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005840"/>
            <a:ext cx="4251960" cy="3977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26280" y="1005840"/>
            <a:ext cx="4251960" cy="3657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005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7556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Laptop at 28.57% risk — Electronics most affected category in LA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258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50545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suppliers at ~49% on-time — root cause is carrier network not individual suppliers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008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2552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leads at $285M — all regions within 5% showing healthy national coverage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758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00507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is the benchmark warehouse — Miami needs urgent attention at 1.29 reorder pressure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681728"/>
            <a:ext cx="8458200" cy="347472"/>
          </a:xfrm>
          <a:prstGeom prst="rect">
            <a:avLst/>
          </a:prstGeom>
          <a:solidFill>
            <a:srgbClr val="0D200D"/>
          </a:solidFill>
          <a:ln w="12700">
            <a:solidFill>
              <a:srgbClr val="1E844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4681728"/>
            <a:ext cx="8458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estimated to save millions annually through proactive inventory and supplier management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1376</Words>
  <Application>Microsoft Office PowerPoint</Application>
  <PresentationFormat>On-screen Show (16:9)</PresentationFormat>
  <Paragraphs>347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SupplyChain360</dc:title>
  <dc:subject>PptxGenJS Presentation</dc:subject>
  <dc:creator>Feyisayo Ajiboye</dc:creator>
  <cp:lastModifiedBy>Ajiboye Feyisayo</cp:lastModifiedBy>
  <cp:revision>2</cp:revision>
  <dcterms:created xsi:type="dcterms:W3CDTF">2026-03-19T17:24:01Z</dcterms:created>
  <dcterms:modified xsi:type="dcterms:W3CDTF">2026-03-20T15:29:56Z</dcterms:modified>
</cp:coreProperties>
</file>